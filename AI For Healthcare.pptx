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66" r:id="rId2"/>
    <p:sldId id="267" r:id="rId3"/>
    <p:sldId id="268" r:id="rId4"/>
    <p:sldId id="275" r:id="rId5"/>
    <p:sldId id="269" r:id="rId6"/>
    <p:sldId id="260" r:id="rId7"/>
    <p:sldId id="261" r:id="rId8"/>
    <p:sldId id="262" r:id="rId9"/>
    <p:sldId id="278" r:id="rId10"/>
    <p:sldId id="279" r:id="rId11"/>
    <p:sldId id="263" r:id="rId12"/>
    <p:sldId id="270" r:id="rId13"/>
    <p:sldId id="271" r:id="rId14"/>
    <p:sldId id="280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4E7AF-238F-6D4B-BA82-2A3F7BD40DA1}" v="562" dt="2026-04-13T02:13:11.829"/>
    <p1510:client id="{7BA338FB-A18B-C8D4-697D-47429108A242}" v="62" dt="2026-04-13T02:10:38.679"/>
    <p1510:client id="{DA189F18-AA24-491C-8CF0-E5258FE58943}" v="265" dt="2026-04-13T02:18:50.860"/>
    <p1510:client id="{E1BEDCC9-B4CE-E76E-5BD7-A54BB959850C}" v="192" dt="2026-04-13T00:36:04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1"/>
  </p:normalViewPr>
  <p:slideViewPr>
    <p:cSldViewPr snapToGrid="0">
      <p:cViewPr varScale="1">
        <p:scale>
          <a:sx n="73" d="100"/>
          <a:sy n="73" d="100"/>
        </p:scale>
        <p:origin x="704" y="2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B3AADBC-3662-A551-37EE-7FA18338A3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FE07A1-C8B4-4E27-1EC6-1D4D6A2F7B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EC23AB-4EF6-4243-B30F-A00290FA39FD}" type="datetimeFigureOut">
              <a:rPr lang="en-NG" smtClean="0"/>
              <a:t>21/05/2026</a:t>
            </a:fld>
            <a:endParaRPr lang="en-N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A526AF-F11F-18C5-2DF6-B77F3BD8AD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0028A-79B3-65FF-0254-FE62D4F18EA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0C622-CD26-6844-A23E-9FD3B767FCBA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348114580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09760-9FFD-464C-A5B5-3B1F8F4BA735}" type="datetimeFigureOut">
              <a:rPr lang="en-NG" smtClean="0"/>
              <a:t>21/05/2026</a:t>
            </a:fld>
            <a:endParaRPr lang="en-N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AA24A-B05A-AD4A-85EA-8A938EC45102}" type="slidenum">
              <a:rPr lang="en-NG" smtClean="0"/>
              <a:t>‹#›</a:t>
            </a:fld>
            <a:endParaRPr lang="en-NG"/>
          </a:p>
        </p:txBody>
      </p:sp>
    </p:spTree>
    <p:extLst>
      <p:ext uri="{BB962C8B-B14F-4D97-AF65-F5344CB8AC3E}">
        <p14:creationId xmlns:p14="http://schemas.microsoft.com/office/powerpoint/2010/main" val="11271315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9363D-6E74-89BA-F1C8-1956D389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FFFA0-5A36-6788-015E-F2E2A3415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4D9425-C893-A1EF-B53B-208941F57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7D8A3-FE78-038B-4FC0-580118B0D1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425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4B83C-94B3-288D-830C-ADFF8D796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CAFF4-C97B-C581-643F-F18E706DF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502CF-56C6-3329-489F-F7326457D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D9725F-9073-6ADF-9C11-7CB04762C3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728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0F3D-3FFA-3B76-8663-DD14DD47E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61E31-74B9-E3B4-F8A5-8495ED37D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05A269-8699-D252-C90C-F87B92B2D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26EC0-8286-3239-FBA8-BCB700F79D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863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09A16-D42A-B066-77BD-0E266E022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36252-2058-0A35-DD26-614B52B5E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F96434-EE71-E10E-98C1-414452E4A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72D3A-6454-C4C8-3C1D-2E0DC8158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0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3085963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2104673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1993237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441520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2184243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1656301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137742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298301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2592378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1768041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sv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992238" y="2916730"/>
            <a:ext cx="9445526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6938"/>
              </a:lnSpc>
            </a:pPr>
            <a:r>
              <a:rPr lang="en-US" sz="8000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AI Implementation </a:t>
            </a:r>
          </a:p>
          <a:p>
            <a:pPr>
              <a:lnSpc>
                <a:spcPts val="6938"/>
              </a:lnSpc>
            </a:pPr>
            <a:r>
              <a:rPr lang="en-US" sz="8000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in Healthcare</a:t>
            </a:r>
            <a:endParaRPr lang="en-US" sz="8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92238" y="4935809"/>
            <a:ext cx="9445526" cy="453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8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Transforming charting through Generative AI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1" name="FooterBar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</a:t>
            </a:r>
          </a:p>
        </p:txBody>
      </p:sp>
      <p:sp>
        <p:nvSpPr>
          <p:cNvPr id="903" name="TeamLabel"/>
          <p:cNvSpPr/>
          <p:nvPr/>
        </p:nvSpPr>
        <p:spPr>
          <a:xfrm>
            <a:off x="992237" y="5636569"/>
            <a:ext cx="9824919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en-US" sz="2400" b="1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Christiana Okonko, Cole Shankles, Grace Fadeyi, Kevin Hill</a:t>
            </a: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C71E560D-A617-1211-8B4A-4D4EFDA28BCB}"/>
              </a:ext>
            </a:extLst>
          </p:cNvPr>
          <p:cNvGrpSpPr/>
          <p:nvPr/>
        </p:nvGrpSpPr>
        <p:grpSpPr>
          <a:xfrm>
            <a:off x="12293942" y="859747"/>
            <a:ext cx="5662247" cy="4283753"/>
            <a:chOff x="0" y="0"/>
            <a:chExt cx="1230376" cy="868016"/>
          </a:xfrm>
        </p:grpSpPr>
        <p:sp>
          <p:nvSpPr>
            <p:cNvPr id="9" name="Freeform 4">
              <a:extLst>
                <a:ext uri="{FF2B5EF4-FFF2-40B4-BE49-F238E27FC236}">
                  <a16:creationId xmlns:a16="http://schemas.microsoft.com/office/drawing/2014/main" id="{E77A494D-7AE3-38E3-77CC-85081EA7154A}"/>
                </a:ext>
              </a:extLst>
            </p:cNvPr>
            <p:cNvSpPr/>
            <p:nvPr/>
          </p:nvSpPr>
          <p:spPr>
            <a:xfrm>
              <a:off x="0" y="0"/>
              <a:ext cx="1230376" cy="868016"/>
            </a:xfrm>
            <a:custGeom>
              <a:avLst/>
              <a:gdLst/>
              <a:ahLst/>
              <a:cxnLst/>
              <a:rect l="l" t="t" r="r" b="b"/>
              <a:pathLst>
                <a:path w="1230376" h="868016">
                  <a:moveTo>
                    <a:pt x="45816" y="0"/>
                  </a:moveTo>
                  <a:lnTo>
                    <a:pt x="1184560" y="0"/>
                  </a:lnTo>
                  <a:cubicBezTo>
                    <a:pt x="1196712" y="0"/>
                    <a:pt x="1208365" y="4827"/>
                    <a:pt x="1216957" y="13419"/>
                  </a:cubicBezTo>
                  <a:cubicBezTo>
                    <a:pt x="1225549" y="22011"/>
                    <a:pt x="1230376" y="33665"/>
                    <a:pt x="1230376" y="45816"/>
                  </a:cubicBezTo>
                  <a:lnTo>
                    <a:pt x="1230376" y="822200"/>
                  </a:lnTo>
                  <a:cubicBezTo>
                    <a:pt x="1230376" y="834352"/>
                    <a:pt x="1225549" y="846005"/>
                    <a:pt x="1216957" y="854597"/>
                  </a:cubicBezTo>
                  <a:cubicBezTo>
                    <a:pt x="1208365" y="863189"/>
                    <a:pt x="1196712" y="868016"/>
                    <a:pt x="1184560" y="868016"/>
                  </a:cubicBezTo>
                  <a:lnTo>
                    <a:pt x="45816" y="868016"/>
                  </a:lnTo>
                  <a:cubicBezTo>
                    <a:pt x="33665" y="868016"/>
                    <a:pt x="22011" y="863189"/>
                    <a:pt x="13419" y="854597"/>
                  </a:cubicBezTo>
                  <a:cubicBezTo>
                    <a:pt x="4827" y="846005"/>
                    <a:pt x="0" y="834352"/>
                    <a:pt x="0" y="822200"/>
                  </a:cubicBezTo>
                  <a:lnTo>
                    <a:pt x="0" y="45816"/>
                  </a:lnTo>
                  <a:cubicBezTo>
                    <a:pt x="0" y="33665"/>
                    <a:pt x="4827" y="22011"/>
                    <a:pt x="13419" y="13419"/>
                  </a:cubicBezTo>
                  <a:cubicBezTo>
                    <a:pt x="22011" y="4827"/>
                    <a:pt x="33665" y="0"/>
                    <a:pt x="45816" y="0"/>
                  </a:cubicBezTo>
                  <a:close/>
                </a:path>
              </a:pathLst>
            </a:custGeom>
            <a:blipFill>
              <a:blip r:embed="rId3"/>
              <a:stretch>
                <a:fillRect l="-2845" r="-284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0BEF370C-65C4-1B49-3F4D-A1D4C224E6AD}"/>
              </a:ext>
            </a:extLst>
          </p:cNvPr>
          <p:cNvGrpSpPr/>
          <p:nvPr/>
        </p:nvGrpSpPr>
        <p:grpSpPr>
          <a:xfrm>
            <a:off x="11598416" y="4320123"/>
            <a:ext cx="5857975" cy="3232346"/>
            <a:chOff x="0" y="0"/>
            <a:chExt cx="1230376" cy="678904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FF09E41-C35D-2C1D-D1DE-9D3B4BA65891}"/>
                </a:ext>
              </a:extLst>
            </p:cNvPr>
            <p:cNvSpPr/>
            <p:nvPr/>
          </p:nvSpPr>
          <p:spPr>
            <a:xfrm>
              <a:off x="0" y="0"/>
              <a:ext cx="1230376" cy="678904"/>
            </a:xfrm>
            <a:custGeom>
              <a:avLst/>
              <a:gdLst/>
              <a:ahLst/>
              <a:cxnLst/>
              <a:rect l="l" t="t" r="r" b="b"/>
              <a:pathLst>
                <a:path w="1230376" h="678904">
                  <a:moveTo>
                    <a:pt x="52864" y="0"/>
                  </a:moveTo>
                  <a:lnTo>
                    <a:pt x="1177512" y="0"/>
                  </a:lnTo>
                  <a:cubicBezTo>
                    <a:pt x="1191533" y="0"/>
                    <a:pt x="1204979" y="5570"/>
                    <a:pt x="1214893" y="15484"/>
                  </a:cubicBezTo>
                  <a:cubicBezTo>
                    <a:pt x="1224807" y="25397"/>
                    <a:pt x="1230376" y="38844"/>
                    <a:pt x="1230376" y="52864"/>
                  </a:cubicBezTo>
                  <a:lnTo>
                    <a:pt x="1230376" y="626040"/>
                  </a:lnTo>
                  <a:cubicBezTo>
                    <a:pt x="1230376" y="640060"/>
                    <a:pt x="1224807" y="653506"/>
                    <a:pt x="1214893" y="663420"/>
                  </a:cubicBezTo>
                  <a:cubicBezTo>
                    <a:pt x="1204979" y="673334"/>
                    <a:pt x="1191533" y="678904"/>
                    <a:pt x="1177512" y="678904"/>
                  </a:cubicBezTo>
                  <a:lnTo>
                    <a:pt x="52864" y="678904"/>
                  </a:lnTo>
                  <a:cubicBezTo>
                    <a:pt x="38844" y="678904"/>
                    <a:pt x="25397" y="673334"/>
                    <a:pt x="15484" y="663420"/>
                  </a:cubicBezTo>
                  <a:cubicBezTo>
                    <a:pt x="5570" y="653506"/>
                    <a:pt x="0" y="640060"/>
                    <a:pt x="0" y="626040"/>
                  </a:cubicBezTo>
                  <a:lnTo>
                    <a:pt x="0" y="52864"/>
                  </a:lnTo>
                  <a:cubicBezTo>
                    <a:pt x="0" y="38844"/>
                    <a:pt x="5570" y="25397"/>
                    <a:pt x="15484" y="15484"/>
                  </a:cubicBezTo>
                  <a:cubicBezTo>
                    <a:pt x="25397" y="5570"/>
                    <a:pt x="38844" y="0"/>
                    <a:pt x="52864" y="0"/>
                  </a:cubicBezTo>
                  <a:close/>
                </a:path>
              </a:pathLst>
            </a:custGeom>
            <a:blipFill>
              <a:blip r:embed="rId4"/>
              <a:stretch>
                <a:fillRect t="-4458" b="-16285"/>
              </a:stretch>
            </a:blipFill>
            <a:ln w="152400" cap="rnd">
              <a:solidFill>
                <a:srgbClr val="7B88F8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238" y="1327398"/>
            <a:ext cx="7088238" cy="88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38"/>
              </a:lnSpc>
            </a:pPr>
            <a:r>
              <a:rPr lang="en-US" sz="6000" b="1" dirty="0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The Challenge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238" y="3170784"/>
            <a:ext cx="5256460" cy="52564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49977" y="3119735"/>
            <a:ext cx="546690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800" b="1" dirty="0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Time-Consuming Documentation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949977" y="4236244"/>
            <a:ext cx="10355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356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Nurses spend up to 2 additional hours per shift on data entry, cutting into time that could be spent providing direct patient care.</a:t>
            </a:r>
            <a:endParaRPr lang="en-US" sz="28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6" name="Text 3"/>
          <p:cNvSpPr/>
          <p:nvPr/>
        </p:nvSpPr>
        <p:spPr>
          <a:xfrm>
            <a:off x="6949977" y="5892842"/>
            <a:ext cx="10355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ts val="3563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Quick and accurate transcription of patient data is critical delays can be the difference between life and death in hospital settings.</a:t>
            </a:r>
            <a:endParaRPr lang="en-US" sz="28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01" name="FooterBar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1</a:t>
            </a:r>
          </a:p>
        </p:txBody>
      </p:sp>
      <p:sp>
        <p:nvSpPr>
          <p:cNvPr id="902" name="SlideAccentBar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E83239B8-0188-5DF6-B88F-605D73A2A4CD}"/>
              </a:ext>
            </a:extLst>
          </p:cNvPr>
          <p:cNvGrpSpPr/>
          <p:nvPr/>
        </p:nvGrpSpPr>
        <p:grpSpPr>
          <a:xfrm>
            <a:off x="982859" y="2661057"/>
            <a:ext cx="5256460" cy="6596799"/>
            <a:chOff x="0" y="0"/>
            <a:chExt cx="1069836" cy="1179016"/>
          </a:xfrm>
        </p:grpSpPr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77913A9-0407-50F9-0595-04BE8BE83939}"/>
                </a:ext>
              </a:extLst>
            </p:cNvPr>
            <p:cNvSpPr/>
            <p:nvPr/>
          </p:nvSpPr>
          <p:spPr>
            <a:xfrm>
              <a:off x="0" y="0"/>
              <a:ext cx="1069836" cy="1179016"/>
            </a:xfrm>
            <a:custGeom>
              <a:avLst/>
              <a:gdLst/>
              <a:ahLst/>
              <a:cxnLst/>
              <a:rect l="l" t="t" r="r" b="b"/>
              <a:pathLst>
                <a:path w="1069836" h="1179016">
                  <a:moveTo>
                    <a:pt x="57174" y="0"/>
                  </a:moveTo>
                  <a:lnTo>
                    <a:pt x="1012662" y="0"/>
                  </a:lnTo>
                  <a:cubicBezTo>
                    <a:pt x="1027826" y="0"/>
                    <a:pt x="1042368" y="6024"/>
                    <a:pt x="1053090" y="16746"/>
                  </a:cubicBezTo>
                  <a:cubicBezTo>
                    <a:pt x="1063813" y="27468"/>
                    <a:pt x="1069836" y="42011"/>
                    <a:pt x="1069836" y="57174"/>
                  </a:cubicBezTo>
                  <a:lnTo>
                    <a:pt x="1069836" y="1121842"/>
                  </a:lnTo>
                  <a:cubicBezTo>
                    <a:pt x="1069836" y="1137005"/>
                    <a:pt x="1063813" y="1151548"/>
                    <a:pt x="1053090" y="1162270"/>
                  </a:cubicBezTo>
                  <a:cubicBezTo>
                    <a:pt x="1042368" y="1172992"/>
                    <a:pt x="1027826" y="1179016"/>
                    <a:pt x="1012662" y="1179016"/>
                  </a:cubicBezTo>
                  <a:lnTo>
                    <a:pt x="57174" y="1179016"/>
                  </a:lnTo>
                  <a:cubicBezTo>
                    <a:pt x="42011" y="1179016"/>
                    <a:pt x="27468" y="1172992"/>
                    <a:pt x="16746" y="1162270"/>
                  </a:cubicBezTo>
                  <a:cubicBezTo>
                    <a:pt x="6024" y="1151548"/>
                    <a:pt x="0" y="1137005"/>
                    <a:pt x="0" y="1121842"/>
                  </a:cubicBezTo>
                  <a:lnTo>
                    <a:pt x="0" y="57174"/>
                  </a:lnTo>
                  <a:cubicBezTo>
                    <a:pt x="0" y="42011"/>
                    <a:pt x="6024" y="27468"/>
                    <a:pt x="16746" y="16746"/>
                  </a:cubicBezTo>
                  <a:cubicBezTo>
                    <a:pt x="27468" y="6024"/>
                    <a:pt x="42011" y="0"/>
                    <a:pt x="57174" y="0"/>
                  </a:cubicBezTo>
                  <a:close/>
                </a:path>
              </a:pathLst>
            </a:custGeom>
            <a:blipFill>
              <a:blip r:embed="rId4"/>
              <a:stretch>
                <a:fillRect t="-18097" b="-1809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190500"/>
            <a:ext cx="6858000" cy="10287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NG" sz="2250"/>
          </a:p>
        </p:txBody>
      </p:sp>
      <p:sp>
        <p:nvSpPr>
          <p:cNvPr id="4" name="Text 1"/>
          <p:cNvSpPr/>
          <p:nvPr/>
        </p:nvSpPr>
        <p:spPr>
          <a:xfrm>
            <a:off x="1382661" y="1088434"/>
            <a:ext cx="6866781" cy="858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750"/>
              </a:lnSpc>
            </a:pPr>
            <a:r>
              <a:rPr lang="en-US" sz="5375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Our Solution</a:t>
            </a:r>
            <a:endParaRPr lang="en-US" sz="5375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1" name="FooterBar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2</a:t>
            </a:r>
          </a:p>
        </p:txBody>
      </p:sp>
      <p:sp>
        <p:nvSpPr>
          <p:cNvPr id="902" name="SlideAccentBar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  <p:sp>
        <p:nvSpPr>
          <p:cNvPr id="22" name="Freeform 32">
            <a:extLst>
              <a:ext uri="{FF2B5EF4-FFF2-40B4-BE49-F238E27FC236}">
                <a16:creationId xmlns:a16="http://schemas.microsoft.com/office/drawing/2014/main" id="{CBBD8B93-0729-9065-8708-8257734FE8B0}"/>
              </a:ext>
            </a:extLst>
          </p:cNvPr>
          <p:cNvSpPr/>
          <p:nvPr/>
        </p:nvSpPr>
        <p:spPr>
          <a:xfrm>
            <a:off x="1949068" y="5712358"/>
            <a:ext cx="420670" cy="429273"/>
          </a:xfrm>
          <a:custGeom>
            <a:avLst/>
            <a:gdLst/>
            <a:ahLst/>
            <a:cxnLst/>
            <a:rect l="l" t="t" r="r" b="b"/>
            <a:pathLst>
              <a:path w="382205" h="455007">
                <a:moveTo>
                  <a:pt x="0" y="0"/>
                </a:moveTo>
                <a:lnTo>
                  <a:pt x="382206" y="0"/>
                </a:lnTo>
                <a:lnTo>
                  <a:pt x="382206" y="455006"/>
                </a:lnTo>
                <a:lnTo>
                  <a:pt x="0" y="455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Freeform 33">
            <a:extLst>
              <a:ext uri="{FF2B5EF4-FFF2-40B4-BE49-F238E27FC236}">
                <a16:creationId xmlns:a16="http://schemas.microsoft.com/office/drawing/2014/main" id="{81C690C1-B20F-E08E-75E4-CE1DF33F8743}"/>
              </a:ext>
            </a:extLst>
          </p:cNvPr>
          <p:cNvSpPr/>
          <p:nvPr/>
        </p:nvSpPr>
        <p:spPr>
          <a:xfrm>
            <a:off x="1949068" y="7239711"/>
            <a:ext cx="420670" cy="429273"/>
          </a:xfrm>
          <a:custGeom>
            <a:avLst/>
            <a:gdLst/>
            <a:ahLst/>
            <a:cxnLst/>
            <a:rect l="l" t="t" r="r" b="b"/>
            <a:pathLst>
              <a:path w="382205" h="455007">
                <a:moveTo>
                  <a:pt x="0" y="0"/>
                </a:moveTo>
                <a:lnTo>
                  <a:pt x="382206" y="0"/>
                </a:lnTo>
                <a:lnTo>
                  <a:pt x="382206" y="455006"/>
                </a:lnTo>
                <a:lnTo>
                  <a:pt x="0" y="4550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36">
            <a:extLst>
              <a:ext uri="{FF2B5EF4-FFF2-40B4-BE49-F238E27FC236}">
                <a16:creationId xmlns:a16="http://schemas.microsoft.com/office/drawing/2014/main" id="{7261E730-DA4C-77DF-F3DB-D2ED480FFA34}"/>
              </a:ext>
            </a:extLst>
          </p:cNvPr>
          <p:cNvSpPr txBox="1"/>
          <p:nvPr/>
        </p:nvSpPr>
        <p:spPr>
          <a:xfrm>
            <a:off x="2631323" y="2701057"/>
            <a:ext cx="4504756" cy="359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AI/Voice integration software</a:t>
            </a:r>
            <a:endParaRPr lang="en-US" sz="2800">
              <a:solidFill>
                <a:srgbClr val="0B0A0A"/>
              </a:solidFill>
              <a:latin typeface="Times New Roman" panose="02020603050405020304" pitchFamily="18" charset="0"/>
              <a:ea typeface="Poppins Semi-Bold"/>
              <a:cs typeface="Times New Roman" panose="02020603050405020304" pitchFamily="18" charset="0"/>
              <a:sym typeface="Poppins Semi-Bold"/>
            </a:endParaRPr>
          </a:p>
        </p:txBody>
      </p:sp>
      <p:sp>
        <p:nvSpPr>
          <p:cNvPr id="25" name="TextBox 37">
            <a:extLst>
              <a:ext uri="{FF2B5EF4-FFF2-40B4-BE49-F238E27FC236}">
                <a16:creationId xmlns:a16="http://schemas.microsoft.com/office/drawing/2014/main" id="{C83C6209-84B3-DFBA-C4E4-D53C2CA9A2AA}"/>
              </a:ext>
            </a:extLst>
          </p:cNvPr>
          <p:cNvSpPr txBox="1"/>
          <p:nvPr/>
        </p:nvSpPr>
        <p:spPr>
          <a:xfrm>
            <a:off x="2675721" y="4339659"/>
            <a:ext cx="5360448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base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Tool that nurses will speak into and then transcribe and extract Important Information to fill chart​</a:t>
            </a:r>
          </a:p>
        </p:txBody>
      </p:sp>
      <p:sp>
        <p:nvSpPr>
          <p:cNvPr id="26" name="TextBox 38">
            <a:extLst>
              <a:ext uri="{FF2B5EF4-FFF2-40B4-BE49-F238E27FC236}">
                <a16:creationId xmlns:a16="http://schemas.microsoft.com/office/drawing/2014/main" id="{25E12BE9-630E-8915-DC23-9E3184388298}"/>
              </a:ext>
            </a:extLst>
          </p:cNvPr>
          <p:cNvSpPr txBox="1"/>
          <p:nvPr/>
        </p:nvSpPr>
        <p:spPr>
          <a:xfrm>
            <a:off x="2675720" y="6473581"/>
            <a:ext cx="5958325" cy="12926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fontAlgn="base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focus on general information such as blood pressure, heartrate, general background and information​</a:t>
            </a:r>
          </a:p>
        </p:txBody>
      </p:sp>
      <p:pic>
        <p:nvPicPr>
          <p:cNvPr id="27" name="Graphic 26" descr="Radio microphone with solid fill">
            <a:extLst>
              <a:ext uri="{FF2B5EF4-FFF2-40B4-BE49-F238E27FC236}">
                <a16:creationId xmlns:a16="http://schemas.microsoft.com/office/drawing/2014/main" id="{D8991D5A-E8DA-75CA-B6EB-951D9AAAD9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0365" y="2466324"/>
            <a:ext cx="1006425" cy="1006425"/>
          </a:xfrm>
          <a:prstGeom prst="rect">
            <a:avLst/>
          </a:prstGeom>
        </p:spPr>
      </p:pic>
      <p:pic>
        <p:nvPicPr>
          <p:cNvPr id="28" name="Graphic 27" descr="Doctor male with solid fill">
            <a:extLst>
              <a:ext uri="{FF2B5EF4-FFF2-40B4-BE49-F238E27FC236}">
                <a16:creationId xmlns:a16="http://schemas.microsoft.com/office/drawing/2014/main" id="{FE8E9DEB-0035-40E6-81A0-9598557E5D1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91867" y="4339659"/>
            <a:ext cx="1006425" cy="1006425"/>
          </a:xfrm>
          <a:prstGeom prst="rect">
            <a:avLst/>
          </a:prstGeom>
        </p:spPr>
      </p:pic>
      <p:pic>
        <p:nvPicPr>
          <p:cNvPr id="29" name="Graphic 28" descr="Heartbeat with solid fill">
            <a:extLst>
              <a:ext uri="{FF2B5EF4-FFF2-40B4-BE49-F238E27FC236}">
                <a16:creationId xmlns:a16="http://schemas.microsoft.com/office/drawing/2014/main" id="{D9170B06-5D59-EB06-6196-6AFC85F970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82660" y="6440416"/>
            <a:ext cx="1006425" cy="1006425"/>
          </a:xfrm>
          <a:prstGeom prst="rect">
            <a:avLst/>
          </a:prstGeom>
        </p:spPr>
      </p:pic>
      <p:grpSp>
        <p:nvGrpSpPr>
          <p:cNvPr id="30" name="Group 3">
            <a:extLst>
              <a:ext uri="{FF2B5EF4-FFF2-40B4-BE49-F238E27FC236}">
                <a16:creationId xmlns:a16="http://schemas.microsoft.com/office/drawing/2014/main" id="{CC7B28A6-DC59-3384-337C-BFE28A65C0C3}"/>
              </a:ext>
            </a:extLst>
          </p:cNvPr>
          <p:cNvGrpSpPr/>
          <p:nvPr/>
        </p:nvGrpSpPr>
        <p:grpSpPr>
          <a:xfrm>
            <a:off x="9359861" y="3158276"/>
            <a:ext cx="8334446" cy="3315305"/>
            <a:chOff x="-3801" y="96708"/>
            <a:chExt cx="1038683" cy="413171"/>
          </a:xfrm>
        </p:grpSpPr>
        <p:sp>
          <p:nvSpPr>
            <p:cNvPr id="31" name="Freeform 4">
              <a:extLst>
                <a:ext uri="{FF2B5EF4-FFF2-40B4-BE49-F238E27FC236}">
                  <a16:creationId xmlns:a16="http://schemas.microsoft.com/office/drawing/2014/main" id="{11589E89-56F0-5DD8-D987-7B67422F1C4E}"/>
                </a:ext>
              </a:extLst>
            </p:cNvPr>
            <p:cNvSpPr/>
            <p:nvPr/>
          </p:nvSpPr>
          <p:spPr>
            <a:xfrm>
              <a:off x="-3801" y="96708"/>
              <a:ext cx="1038683" cy="413171"/>
            </a:xfrm>
            <a:custGeom>
              <a:avLst/>
              <a:gdLst/>
              <a:ahLst/>
              <a:cxnLst/>
              <a:rect l="l" t="t" r="r" b="b"/>
              <a:pathLst>
                <a:path w="1038683" h="413171">
                  <a:moveTo>
                    <a:pt x="46445" y="0"/>
                  </a:moveTo>
                  <a:lnTo>
                    <a:pt x="992237" y="0"/>
                  </a:lnTo>
                  <a:cubicBezTo>
                    <a:pt x="1017889" y="0"/>
                    <a:pt x="1038683" y="20794"/>
                    <a:pt x="1038683" y="46445"/>
                  </a:cubicBezTo>
                  <a:lnTo>
                    <a:pt x="1038683" y="366726"/>
                  </a:lnTo>
                  <a:cubicBezTo>
                    <a:pt x="1038683" y="392377"/>
                    <a:pt x="1017889" y="413171"/>
                    <a:pt x="992237" y="413171"/>
                  </a:cubicBezTo>
                  <a:lnTo>
                    <a:pt x="46445" y="413171"/>
                  </a:lnTo>
                  <a:cubicBezTo>
                    <a:pt x="20794" y="413171"/>
                    <a:pt x="0" y="392377"/>
                    <a:pt x="0" y="366726"/>
                  </a:cubicBezTo>
                  <a:lnTo>
                    <a:pt x="0" y="46445"/>
                  </a:lnTo>
                  <a:cubicBezTo>
                    <a:pt x="0" y="20794"/>
                    <a:pt x="20794" y="0"/>
                    <a:pt x="46445" y="0"/>
                  </a:cubicBezTo>
                  <a:close/>
                </a:path>
              </a:pathLst>
            </a:custGeom>
            <a:blipFill>
              <a:blip r:embed="rId11"/>
              <a:stretch>
                <a:fillRect t="-9292" b="-32116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C13E2-9852-6A47-C72C-EE0A67369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6">
            <a:extLst>
              <a:ext uri="{FF2B5EF4-FFF2-40B4-BE49-F238E27FC236}">
                <a16:creationId xmlns:a16="http://schemas.microsoft.com/office/drawing/2014/main" id="{070F81F8-0BFF-4D4D-481C-02CDCFEACBA0}"/>
              </a:ext>
            </a:extLst>
          </p:cNvPr>
          <p:cNvSpPr/>
          <p:nvPr/>
        </p:nvSpPr>
        <p:spPr>
          <a:xfrm>
            <a:off x="11680925" y="3300418"/>
            <a:ext cx="4620816" cy="3977283"/>
          </a:xfrm>
          <a:prstGeom prst="roundRect">
            <a:avLst>
              <a:gd name="adj" fmla="val 290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N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C498452-2EF8-5E90-4EAC-4F9B474FB15F}"/>
              </a:ext>
            </a:extLst>
          </p:cNvPr>
          <p:cNvSpPr/>
          <p:nvPr/>
        </p:nvSpPr>
        <p:spPr>
          <a:xfrm>
            <a:off x="1500137" y="1347969"/>
            <a:ext cx="6866781" cy="858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750"/>
              </a:lnSpc>
            </a:pPr>
            <a:r>
              <a:rPr lang="en-US" sz="600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Strategic Value of AI</a:t>
            </a:r>
            <a:endParaRPr lang="en-US" sz="6000" b="1">
              <a:latin typeface="Times New Roman"/>
              <a:cs typeface="Times New Roman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BD73833-2C83-889B-5610-0EF2FE495841}"/>
              </a:ext>
            </a:extLst>
          </p:cNvPr>
          <p:cNvSpPr/>
          <p:nvPr/>
        </p:nvSpPr>
        <p:spPr>
          <a:xfrm>
            <a:off x="1946969" y="3300418"/>
            <a:ext cx="4620666" cy="3977283"/>
          </a:xfrm>
          <a:prstGeom prst="roundRect">
            <a:avLst>
              <a:gd name="adj" fmla="val 290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N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00753F1-CC8C-2739-B7B5-21D7C4AB0920}"/>
              </a:ext>
            </a:extLst>
          </p:cNvPr>
          <p:cNvSpPr/>
          <p:nvPr/>
        </p:nvSpPr>
        <p:spPr>
          <a:xfrm>
            <a:off x="2231081" y="3584530"/>
            <a:ext cx="823913" cy="823913"/>
          </a:xfrm>
          <a:prstGeom prst="roundRect">
            <a:avLst>
              <a:gd name="adj" fmla="val 138714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N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0AF38691-DECD-C887-9D02-7CC2585C7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57598" y="3811047"/>
            <a:ext cx="370731" cy="370731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E175F968-23A0-E151-C638-C0F2DB543128}"/>
              </a:ext>
            </a:extLst>
          </p:cNvPr>
          <p:cNvSpPr/>
          <p:nvPr/>
        </p:nvSpPr>
        <p:spPr>
          <a:xfrm>
            <a:off x="2904901" y="3811046"/>
            <a:ext cx="3433316" cy="42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75"/>
              </a:lnSpc>
            </a:pPr>
            <a:r>
              <a:rPr lang="en-US" sz="2800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Time Savings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A4A3B7D2-E0D2-EF55-45FF-AE2F14AF320B}"/>
              </a:ext>
            </a:extLst>
          </p:cNvPr>
          <p:cNvSpPr/>
          <p:nvPr/>
        </p:nvSpPr>
        <p:spPr>
          <a:xfrm>
            <a:off x="2231081" y="4879486"/>
            <a:ext cx="4052441" cy="173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375"/>
              </a:lnSpc>
            </a:pPr>
            <a:r>
              <a:rPr lang="en-US" sz="24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Reduces documentation burden, freeing nurses to focus on patient care and critical decision-making.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09B2542-05C4-D7FB-E18A-BEAD059C2037}"/>
              </a:ext>
            </a:extLst>
          </p:cNvPr>
          <p:cNvSpPr/>
          <p:nvPr/>
        </p:nvSpPr>
        <p:spPr>
          <a:xfrm>
            <a:off x="6833592" y="3300418"/>
            <a:ext cx="4620816" cy="3977283"/>
          </a:xfrm>
          <a:prstGeom prst="roundRect">
            <a:avLst>
              <a:gd name="adj" fmla="val 290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N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F367E32-D592-4811-54DF-4FF4252C72D0}"/>
              </a:ext>
            </a:extLst>
          </p:cNvPr>
          <p:cNvSpPr/>
          <p:nvPr/>
        </p:nvSpPr>
        <p:spPr>
          <a:xfrm>
            <a:off x="7120491" y="3584530"/>
            <a:ext cx="823913" cy="823913"/>
          </a:xfrm>
          <a:prstGeom prst="roundRect">
            <a:avLst>
              <a:gd name="adj" fmla="val 1387144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N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E93B356B-57C5-522D-BD51-3DB6E2C97E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4220" y="3811047"/>
            <a:ext cx="370731" cy="370731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175EBA37-0B78-842F-13A1-56509A9CFE88}"/>
              </a:ext>
            </a:extLst>
          </p:cNvPr>
          <p:cNvSpPr/>
          <p:nvPr/>
        </p:nvSpPr>
        <p:spPr>
          <a:xfrm>
            <a:off x="7941468" y="3811047"/>
            <a:ext cx="3433316" cy="42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75"/>
              </a:lnSpc>
            </a:pPr>
            <a:r>
              <a:rPr lang="en-US" sz="2800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Enhanced Accuracy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CBADBA7-6555-95AC-5EA3-DF6D0C016E85}"/>
              </a:ext>
            </a:extLst>
          </p:cNvPr>
          <p:cNvSpPr/>
          <p:nvPr/>
        </p:nvSpPr>
        <p:spPr>
          <a:xfrm>
            <a:off x="7136005" y="4879486"/>
            <a:ext cx="4052590" cy="1730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375"/>
              </a:lnSpc>
            </a:pPr>
            <a:r>
              <a:rPr lang="en-US" sz="24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Structured data extraction minimizes transcription errors and ensures consistent formatting.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BDAB79-E09C-2647-113A-956EEAA19645}"/>
              </a:ext>
            </a:extLst>
          </p:cNvPr>
          <p:cNvGrpSpPr/>
          <p:nvPr/>
        </p:nvGrpSpPr>
        <p:grpSpPr>
          <a:xfrm>
            <a:off x="11974934" y="3584530"/>
            <a:ext cx="823913" cy="823913"/>
            <a:chOff x="2511486" y="6555282"/>
            <a:chExt cx="823913" cy="823913"/>
          </a:xfrm>
        </p:grpSpPr>
        <p:sp>
          <p:nvSpPr>
            <p:cNvPr id="16" name="Shape 11">
              <a:extLst>
                <a:ext uri="{FF2B5EF4-FFF2-40B4-BE49-F238E27FC236}">
                  <a16:creationId xmlns:a16="http://schemas.microsoft.com/office/drawing/2014/main" id="{FAFB13BB-36B9-EB10-9405-36C62681BBCC}"/>
                </a:ext>
              </a:extLst>
            </p:cNvPr>
            <p:cNvSpPr/>
            <p:nvPr/>
          </p:nvSpPr>
          <p:spPr>
            <a:xfrm>
              <a:off x="2511486" y="6555282"/>
              <a:ext cx="823913" cy="823913"/>
            </a:xfrm>
            <a:prstGeom prst="roundRect">
              <a:avLst>
                <a:gd name="adj" fmla="val 13871445"/>
              </a:avLst>
            </a:prstGeom>
            <a:solidFill>
              <a:srgbClr val="1B2A4A"/>
            </a:solidFill>
            <a:ln/>
          </p:spPr>
          <p:txBody>
            <a:bodyPr/>
            <a:lstStyle/>
            <a:p>
              <a:endParaRPr lang="en-NG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7" name="Image 3" descr="preencoded.png">
              <a:extLst>
                <a:ext uri="{FF2B5EF4-FFF2-40B4-BE49-F238E27FC236}">
                  <a16:creationId xmlns:a16="http://schemas.microsoft.com/office/drawing/2014/main" id="{FF7373E9-4A08-84C1-3F64-9A09213C4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738003" y="6781799"/>
              <a:ext cx="370731" cy="370731"/>
            </a:xfrm>
            <a:prstGeom prst="rect">
              <a:avLst/>
            </a:prstGeom>
          </p:spPr>
        </p:pic>
      </p:grpSp>
      <p:sp>
        <p:nvSpPr>
          <p:cNvPr id="18" name="Text 12">
            <a:extLst>
              <a:ext uri="{FF2B5EF4-FFF2-40B4-BE49-F238E27FC236}">
                <a16:creationId xmlns:a16="http://schemas.microsoft.com/office/drawing/2014/main" id="{9CFFFD90-2472-F6F5-E0E4-9AFD4D480431}"/>
              </a:ext>
            </a:extLst>
          </p:cNvPr>
          <p:cNvSpPr/>
          <p:nvPr/>
        </p:nvSpPr>
        <p:spPr>
          <a:xfrm>
            <a:off x="12833636" y="3811046"/>
            <a:ext cx="3433316" cy="429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3375"/>
              </a:lnSpc>
            </a:pPr>
            <a:r>
              <a:rPr lang="en-US" sz="2800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Risk Reduction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9353CFA5-8B9C-8C5E-5D8D-20B33AEAE066}"/>
              </a:ext>
            </a:extLst>
          </p:cNvPr>
          <p:cNvSpPr/>
          <p:nvPr/>
        </p:nvSpPr>
        <p:spPr>
          <a:xfrm>
            <a:off x="12201451" y="4879486"/>
            <a:ext cx="3607960" cy="1758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3375"/>
              </a:lnSpc>
            </a:pPr>
            <a:r>
              <a:rPr lang="en-US" sz="24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Predictive analytics flag patient deterioration risks by analyzing trends in charted data.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1" name="FooterBar">
            <a:extLst>
              <a:ext uri="{FF2B5EF4-FFF2-40B4-BE49-F238E27FC236}">
                <a16:creationId xmlns:a16="http://schemas.microsoft.com/office/drawing/2014/main" id="{ACC72F45-2DCB-C99A-3612-FF733312EFBA}"/>
              </a:ext>
            </a:extLst>
          </p:cNvPr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3</a:t>
            </a:r>
          </a:p>
        </p:txBody>
      </p:sp>
      <p:sp>
        <p:nvSpPr>
          <p:cNvPr id="902" name="SlideAccentBar">
            <a:extLst>
              <a:ext uri="{FF2B5EF4-FFF2-40B4-BE49-F238E27FC236}">
                <a16:creationId xmlns:a16="http://schemas.microsoft.com/office/drawing/2014/main" id="{5BFA7B46-BDEA-1160-9213-E91A66D87670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</p:spTree>
    <p:extLst>
      <p:ext uri="{BB962C8B-B14F-4D97-AF65-F5344CB8AC3E}">
        <p14:creationId xmlns:p14="http://schemas.microsoft.com/office/powerpoint/2010/main" val="1255353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238" y="1020124"/>
            <a:ext cx="11189808" cy="88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38"/>
              </a:lnSpc>
            </a:pPr>
            <a:r>
              <a:rPr lang="en-US" sz="600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Core Gen AI Capabilities</a:t>
            </a:r>
            <a:endParaRPr lang="en-US" sz="6000" b="1">
              <a:latin typeface="Times New Roman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992238" y="2572793"/>
            <a:ext cx="56703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Raleway Light" pitchFamily="34" charset="-122"/>
                <a:cs typeface="Times New Roman" panose="02020603050405020304" pitchFamily="18" charset="0"/>
              </a:rPr>
              <a:t>01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92238" y="3016598"/>
            <a:ext cx="8009930" cy="381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N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2238" y="3234483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Speech-to-Text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2238" y="3847506"/>
            <a:ext cx="80099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OpenAI Whisper and </a:t>
            </a:r>
            <a:r>
              <a:rPr lang="en-US" sz="2400" err="1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Deepgram</a:t>
            </a: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 enable automatic speech recognition allowing conversion of dictation to text instantly.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85685" y="2572793"/>
            <a:ext cx="56703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Raleway Light" pitchFamily="34" charset="-122"/>
                <a:cs typeface="Times New Roman" panose="02020603050405020304" pitchFamily="18" charset="0"/>
              </a:rPr>
              <a:t>02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285686" y="3016598"/>
            <a:ext cx="8010079" cy="381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N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285686" y="3234483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NLP Extraction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285686" y="3847506"/>
            <a:ext cx="801007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LLMs like GPT-4o and Claude read transcripts and extract structured data: vitals, medications, observations.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92238" y="5250807"/>
            <a:ext cx="56703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Raleway Light" pitchFamily="34" charset="-122"/>
                <a:cs typeface="Times New Roman" panose="02020603050405020304" pitchFamily="18" charset="0"/>
              </a:rPr>
              <a:t>03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92238" y="5694612"/>
            <a:ext cx="8009930" cy="381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N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92238" y="5912497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Risk Alerting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92238" y="6525520"/>
            <a:ext cx="80099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Google Health AI and IBM Watson summarize patient risk flags from health records.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85685" y="5250807"/>
            <a:ext cx="56703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Raleway Light" pitchFamily="34" charset="-122"/>
                <a:cs typeface="Times New Roman" panose="02020603050405020304" pitchFamily="18" charset="0"/>
              </a:rPr>
              <a:t>04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85686" y="5694612"/>
            <a:ext cx="8010079" cy="381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NG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285686" y="5912497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Clinical Coding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285686" y="6525520"/>
            <a:ext cx="801007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AWS Comprehend Medical and scispaCy recognize ICD-10 codes and clinical terminology.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1" name="FooterBar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4</a:t>
            </a:r>
          </a:p>
        </p:txBody>
      </p:sp>
      <p:sp>
        <p:nvSpPr>
          <p:cNvPr id="902" name="SlideAccentBar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8679" y="3170784"/>
            <a:ext cx="5256460" cy="5256460"/>
          </a:xfrm>
          <a:prstGeom prst="rect">
            <a:avLst/>
          </a:prstGeom>
        </p:spPr>
      </p:pic>
      <p:sp>
        <p:nvSpPr>
          <p:cNvPr id="901" name="FooterBar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5</a:t>
            </a:r>
          </a:p>
        </p:txBody>
      </p:sp>
      <p:sp>
        <p:nvSpPr>
          <p:cNvPr id="902" name="SlideAccentBar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06CCCD72-5007-85D8-2ADE-9CE74C59BD5E}"/>
              </a:ext>
            </a:extLst>
          </p:cNvPr>
          <p:cNvSpPr/>
          <p:nvPr/>
        </p:nvSpPr>
        <p:spPr>
          <a:xfrm>
            <a:off x="1256007" y="3604758"/>
            <a:ext cx="4620666" cy="3977283"/>
          </a:xfrm>
          <a:prstGeom prst="roundRect">
            <a:avLst>
              <a:gd name="adj" fmla="val 290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lnSpc>
                <a:spcPts val="3563"/>
              </a:lnSpc>
            </a:pP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Built with Google AI Studio using Gemini 3 Flash, </a:t>
            </a:r>
            <a:r>
              <a:rPr lang="en-US" sz="2400" err="1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TriageNotes</a:t>
            </a: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 AI processes audio recordings in a single pass, generating both verbatim transcription and structured EHR data.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CCD082D-8F12-C0D9-A778-DF646D27C0D6}"/>
              </a:ext>
            </a:extLst>
          </p:cNvPr>
          <p:cNvSpPr/>
          <p:nvPr/>
        </p:nvSpPr>
        <p:spPr>
          <a:xfrm>
            <a:off x="6833667" y="3604757"/>
            <a:ext cx="4620666" cy="3977283"/>
          </a:xfrm>
          <a:prstGeom prst="roundRect">
            <a:avLst>
              <a:gd name="adj" fmla="val 290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>
              <a:lnSpc>
                <a:spcPts val="3563"/>
              </a:lnSpc>
            </a:pP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Compatible with all device types, the tool integrates directly with existing electronic health record platforms for seamless data population.</a:t>
            </a:r>
          </a:p>
          <a:p>
            <a:pPr algn="ctr">
              <a:lnSpc>
                <a:spcPts val="3563"/>
              </a:lnSpc>
            </a:pP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9E9C78D3-99E6-3DCF-37E2-575508FFD11F}"/>
              </a:ext>
            </a:extLst>
          </p:cNvPr>
          <p:cNvSpPr/>
          <p:nvPr/>
        </p:nvSpPr>
        <p:spPr>
          <a:xfrm>
            <a:off x="1256007" y="592782"/>
            <a:ext cx="7088238" cy="88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38"/>
              </a:lnSpc>
            </a:pPr>
            <a:endParaRPr lang="en-US" sz="5563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0C634792-3B03-6E98-472E-A80921089C9C}"/>
              </a:ext>
            </a:extLst>
          </p:cNvPr>
          <p:cNvSpPr/>
          <p:nvPr/>
        </p:nvSpPr>
        <p:spPr>
          <a:xfrm>
            <a:off x="1098564" y="1480868"/>
            <a:ext cx="7858274" cy="88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38"/>
              </a:lnSpc>
            </a:pPr>
            <a:r>
              <a:rPr lang="en-US" sz="6000" b="1" err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TriageNotes</a:t>
            </a:r>
            <a:r>
              <a:rPr lang="en-US" sz="600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 AI</a:t>
            </a:r>
            <a:endParaRPr lang="en-US" sz="6000" b="1"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NG" sz="22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0671" y="196007"/>
            <a:ext cx="6596658" cy="9894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837" y="708222"/>
            <a:ext cx="9353761" cy="816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375"/>
              </a:lnSpc>
            </a:pPr>
            <a:r>
              <a:rPr lang="en-US" sz="600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Implementation Process</a:t>
            </a:r>
            <a:endParaRPr lang="en-US" sz="6000" b="1">
              <a:latin typeface="Times New Roman"/>
              <a:cs typeface="Times New Roman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698" y="1974950"/>
            <a:ext cx="1306860" cy="18788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462511" y="2236291"/>
            <a:ext cx="3267224" cy="40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88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Audio Capture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2462510" y="2789039"/>
            <a:ext cx="805279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24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Nurses dictate patient information using microphones or mobile devices during assessments.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698" y="3853756"/>
            <a:ext cx="1306860" cy="18788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62511" y="4115098"/>
            <a:ext cx="3267224" cy="40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88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Transcription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2462510" y="4667846"/>
            <a:ext cx="805279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24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Speech-to-text engine converts audio into written transcriptions in real time.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698" y="5732562"/>
            <a:ext cx="1306860" cy="187880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462511" y="5993904"/>
            <a:ext cx="3267224" cy="40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88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Data Extraction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2462510" y="6546652"/>
            <a:ext cx="805279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24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Fine-tuned LLM extracts vitals, symptoms, and status using clinical terminology.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698" y="7611368"/>
            <a:ext cx="1306860" cy="187880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2462511" y="7872710"/>
            <a:ext cx="3267224" cy="40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88"/>
              </a:lnSpc>
            </a:pPr>
            <a:r>
              <a:rPr lang="en-US" sz="24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EHR Integration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2462510" y="8425458"/>
            <a:ext cx="8052793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2400">
                <a:solidFill>
                  <a:srgbClr val="1B2A4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Formatted data populates hospital's standardized chart with human verification.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1" name="FooterBar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6</a:t>
            </a:r>
          </a:p>
        </p:txBody>
      </p:sp>
      <p:sp>
        <p:nvSpPr>
          <p:cNvPr id="902" name="SlideAccentBar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FooterBar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7</a:t>
            </a:r>
          </a:p>
        </p:txBody>
      </p:sp>
      <p:sp>
        <p:nvSpPr>
          <p:cNvPr id="902" name="SlideAccentBar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E98EA10-3668-FCAD-75B3-F29AD5F0B9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8742" y="419582"/>
            <a:ext cx="13710517" cy="90137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CB0E-8685-7F81-DFDB-7C7403B4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FooterBar">
            <a:extLst>
              <a:ext uri="{FF2B5EF4-FFF2-40B4-BE49-F238E27FC236}">
                <a16:creationId xmlns:a16="http://schemas.microsoft.com/office/drawing/2014/main" id="{ECEB2941-3D81-C9DC-769C-1B550A9617B3}"/>
              </a:ext>
            </a:extLst>
          </p:cNvPr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8</a:t>
            </a:r>
          </a:p>
        </p:txBody>
      </p:sp>
      <p:sp>
        <p:nvSpPr>
          <p:cNvPr id="902" name="SlideAccentBar">
            <a:extLst>
              <a:ext uri="{FF2B5EF4-FFF2-40B4-BE49-F238E27FC236}">
                <a16:creationId xmlns:a16="http://schemas.microsoft.com/office/drawing/2014/main" id="{E58FAADF-5582-BAA5-A7D6-E0BF61C76E45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  <p:pic>
        <p:nvPicPr>
          <p:cNvPr id="3" name="Picture 2" descr="A screenshot of a message&#10;&#10;AI-generated content may be incorrect.">
            <a:extLst>
              <a:ext uri="{FF2B5EF4-FFF2-40B4-BE49-F238E27FC236}">
                <a16:creationId xmlns:a16="http://schemas.microsoft.com/office/drawing/2014/main" id="{2BE8DB0C-8AFE-F049-21F6-7649790D5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626480"/>
            <a:ext cx="17487900" cy="868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5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EFD75-6B94-C000-3126-1266E8D8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FooterBar">
            <a:extLst>
              <a:ext uri="{FF2B5EF4-FFF2-40B4-BE49-F238E27FC236}">
                <a16:creationId xmlns:a16="http://schemas.microsoft.com/office/drawing/2014/main" id="{B68232D9-13F2-24CC-AE85-6E1ED958F568}"/>
              </a:ext>
            </a:extLst>
          </p:cNvPr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9</a:t>
            </a:r>
          </a:p>
        </p:txBody>
      </p:sp>
      <p:sp>
        <p:nvSpPr>
          <p:cNvPr id="902" name="SlideAccentBar">
            <a:extLst>
              <a:ext uri="{FF2B5EF4-FFF2-40B4-BE49-F238E27FC236}">
                <a16:creationId xmlns:a16="http://schemas.microsoft.com/office/drawing/2014/main" id="{87D654E6-7ED3-5034-84B5-E832A2CBE88D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  <p:pic>
        <p:nvPicPr>
          <p:cNvPr id="3" name="Content Placeholder 3" descr="A screenshot of a medical application&#10;&#10;AI-generated content may be incorrect.">
            <a:extLst>
              <a:ext uri="{FF2B5EF4-FFF2-40B4-BE49-F238E27FC236}">
                <a16:creationId xmlns:a16="http://schemas.microsoft.com/office/drawing/2014/main" id="{516ABFC0-DA44-10D6-0598-386C77640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199" y="362030"/>
            <a:ext cx="12273132" cy="91867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7705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0"/>
            <a:ext cx="6858000" cy="10287000"/>
          </a:xfrm>
          <a:prstGeom prst="rect">
            <a:avLst/>
          </a:prstGeom>
          <a:solidFill>
            <a:srgbClr val="E1E1EA"/>
          </a:solidFill>
          <a:ln/>
        </p:spPr>
        <p:txBody>
          <a:bodyPr/>
          <a:lstStyle/>
          <a:p>
            <a:endParaRPr lang="en-NG" sz="225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0671" y="196007"/>
            <a:ext cx="6596658" cy="98949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697" y="806947"/>
            <a:ext cx="6534448" cy="816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375"/>
              </a:lnSpc>
            </a:pPr>
            <a:r>
              <a:rPr lang="en-US" sz="60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Key Takeaways</a:t>
            </a:r>
            <a:endParaRPr lang="en-US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914698" y="1985071"/>
            <a:ext cx="9600605" cy="2337644"/>
          </a:xfrm>
          <a:prstGeom prst="roundRect">
            <a:avLst>
              <a:gd name="adj" fmla="val 58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NG"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86123" y="1985071"/>
            <a:ext cx="114300" cy="2337644"/>
          </a:xfrm>
          <a:prstGeom prst="roundRect">
            <a:avLst>
              <a:gd name="adj" fmla="val 9604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NG"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90341" y="2274986"/>
            <a:ext cx="3267224" cy="40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88"/>
              </a:lnSpc>
            </a:pPr>
            <a:r>
              <a:rPr lang="en-US" sz="240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Efficiency Gains</a:t>
            </a:r>
            <a:endParaRPr lang="en-US" sz="2400" b="1">
              <a:latin typeface="Times New Roman"/>
              <a:cs typeface="Times New Roman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90340" y="2827736"/>
            <a:ext cx="8935045" cy="120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AI significantly improves efficiency in routine clinical tasks, especially repetitive documentation. Nurses can focus more on direct patient care and critical thinking.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14698" y="4563667"/>
            <a:ext cx="9600605" cy="2337644"/>
          </a:xfrm>
          <a:prstGeom prst="roundRect">
            <a:avLst>
              <a:gd name="adj" fmla="val 58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NG"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86123" y="4563667"/>
            <a:ext cx="114300" cy="2337644"/>
          </a:xfrm>
          <a:prstGeom prst="roundRect">
            <a:avLst>
              <a:gd name="adj" fmla="val 9604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NG"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90341" y="4853583"/>
            <a:ext cx="4061669" cy="40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88"/>
              </a:lnSpc>
            </a:pPr>
            <a:r>
              <a:rPr lang="en-US" sz="240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Human Oversight Essential</a:t>
            </a:r>
            <a:endParaRPr lang="en-US" sz="2400" b="1">
              <a:latin typeface="Times New Roman"/>
              <a:cs typeface="Times New Roman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90340" y="5406331"/>
            <a:ext cx="8935045" cy="120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Healthcare requires high accuracy, privacy, and trust. AI should support, not replace, clinical professionals. Human review ensures correct, contextually appropriate records.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14698" y="7142262"/>
            <a:ext cx="9600605" cy="2337644"/>
          </a:xfrm>
          <a:prstGeom prst="roundRect">
            <a:avLst>
              <a:gd name="adj" fmla="val 586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NG"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886123" y="7142262"/>
            <a:ext cx="114300" cy="2337644"/>
          </a:xfrm>
          <a:prstGeom prst="roundRect">
            <a:avLst>
              <a:gd name="adj" fmla="val 96046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NG" sz="22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290341" y="7432179"/>
            <a:ext cx="3267224" cy="408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188"/>
              </a:lnSpc>
            </a:pPr>
            <a:r>
              <a:rPr lang="en-US" sz="240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Usability Matters</a:t>
            </a:r>
            <a:endParaRPr lang="en-US" sz="2400" b="1">
              <a:latin typeface="Times New Roman"/>
              <a:cs typeface="Times New Roman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290340" y="7984927"/>
            <a:ext cx="8935045" cy="1205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25"/>
              </a:lnSpc>
            </a:pP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Effective AI solutions must fit naturally into existing workflows. Tools that are complicated or disruptive face low adoption regardless of technical strengths.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01" name="FooterBar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10</a:t>
            </a:r>
          </a:p>
        </p:txBody>
      </p:sp>
      <p:sp>
        <p:nvSpPr>
          <p:cNvPr id="902" name="SlideAccentBar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69447" y="1357446"/>
            <a:ext cx="9214749" cy="88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38"/>
              </a:lnSpc>
            </a:pPr>
            <a:r>
              <a:rPr lang="en-US" sz="60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Future Improvements</a:t>
            </a:r>
            <a:endParaRPr lang="en-US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2238" y="3612505"/>
            <a:ext cx="708720" cy="70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55317" y="3612505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Multilingual Support</a:t>
            </a:r>
            <a:endParaRPr lang="en-US" sz="2750" b="1">
              <a:latin typeface="Times New Roman"/>
              <a:cs typeface="Times New Roman"/>
            </a:endParaRPr>
          </a:p>
        </p:txBody>
      </p:sp>
      <p:sp>
        <p:nvSpPr>
          <p:cNvPr id="5" name="Text 2"/>
          <p:cNvSpPr/>
          <p:nvPr/>
        </p:nvSpPr>
        <p:spPr>
          <a:xfrm>
            <a:off x="2055317" y="4225529"/>
            <a:ext cx="6911429" cy="136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Enhance system to serve diverse patient populations and healthcare staff with multiple language capabilities.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1105" y="3612505"/>
            <a:ext cx="708720" cy="708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384186" y="3612505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Noise Filtering</a:t>
            </a:r>
            <a:endParaRPr lang="en-US" sz="2750" b="1">
              <a:latin typeface="Times New Roman"/>
              <a:cs typeface="Times New Roman"/>
            </a:endParaRPr>
          </a:p>
        </p:txBody>
      </p:sp>
      <p:sp>
        <p:nvSpPr>
          <p:cNvPr id="8" name="Text 4"/>
          <p:cNvSpPr/>
          <p:nvPr/>
        </p:nvSpPr>
        <p:spPr>
          <a:xfrm>
            <a:off x="10384186" y="4225529"/>
            <a:ext cx="6911579" cy="136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Incorporate ambient noise filtering and speaker recognition to improve accuracy in busy hospital environments.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2238" y="6153448"/>
            <a:ext cx="708720" cy="7087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055317" y="6153447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Predictive Analytics</a:t>
            </a:r>
            <a:endParaRPr lang="en-US" sz="2750" b="1">
              <a:latin typeface="Times New Roman"/>
              <a:cs typeface="Times New Roman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055317" y="6766472"/>
            <a:ext cx="691142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Integrate trend analysis to flag patient deterioration risks by monitoring charted data over time.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21105" y="6153448"/>
            <a:ext cx="708720" cy="7087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384186" y="6153447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750" b="1">
                <a:solidFill>
                  <a:srgbClr val="1B2A4A"/>
                </a:solidFill>
                <a:latin typeface="Times New Roman"/>
                <a:ea typeface="Trebuchet MS" pitchFamily="34" charset="-122"/>
                <a:cs typeface="Times New Roman"/>
              </a:rPr>
              <a:t>Clinical Testing</a:t>
            </a:r>
            <a:endParaRPr lang="en-US" sz="2750" b="1">
              <a:latin typeface="Times New Roman"/>
              <a:cs typeface="Times New Roman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0384186" y="6766471"/>
            <a:ext cx="6911579" cy="136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63"/>
              </a:lnSpc>
            </a:pPr>
            <a:r>
              <a:rPr lang="en-US" sz="240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Conduct pilot testing in real clinical environments to gather feedback for usability and accuracy improvements.</a:t>
            </a:r>
            <a:endParaRPr lang="en-US" sz="240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901" name="FooterBar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11</a:t>
            </a:r>
          </a:p>
        </p:txBody>
      </p:sp>
      <p:sp>
        <p:nvSpPr>
          <p:cNvPr id="902" name="SlideAccentBar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2237" y="1540669"/>
            <a:ext cx="7088238" cy="88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38"/>
              </a:lnSpc>
            </a:pPr>
            <a:r>
              <a:rPr lang="en-US" sz="6000" b="1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Strategic Impact</a:t>
            </a:r>
            <a:endParaRPr lang="en-US" sz="6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92237" y="3555355"/>
            <a:ext cx="3544044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38"/>
              </a:lnSpc>
            </a:pPr>
            <a:r>
              <a:rPr lang="en-US" sz="2400" b="1" dirty="0">
                <a:solidFill>
                  <a:srgbClr val="1B2A4A"/>
                </a:solidFill>
                <a:latin typeface="Times New Roman" panose="02020603050405020304" pitchFamily="18" charset="0"/>
                <a:ea typeface="Trebuchet MS" pitchFamily="34" charset="-122"/>
                <a:cs typeface="Times New Roman" panose="02020603050405020304" pitchFamily="18" charset="0"/>
              </a:rPr>
              <a:t>Professional Value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2237" y="4281785"/>
            <a:ext cx="1035516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563"/>
              </a:lnSpc>
              <a:buFont typeface="Arial"/>
              <a:buChar char="•"/>
            </a:pPr>
            <a:r>
              <a:rPr lang="en-US" sz="2400" dirty="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This project demonstrates Generative AI's strong potential to improve healthcare operations when implemented thoughtfully. </a:t>
            </a:r>
            <a:r>
              <a:rPr lang="en-US" sz="2400" dirty="0" err="1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TriageNotes</a:t>
            </a:r>
            <a:r>
              <a:rPr lang="en-US" sz="2400" dirty="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 AI represents a practical example of how AI can reduce administrative burden while supporting safer, more efficient patient care.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2237" y="6351391"/>
            <a:ext cx="10355164" cy="1360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563"/>
              </a:lnSpc>
              <a:buFont typeface="Arial"/>
              <a:buChar char="•"/>
            </a:pPr>
            <a:r>
              <a:rPr lang="en-US" sz="2400" dirty="0">
                <a:solidFill>
                  <a:srgbClr val="1B2A4A"/>
                </a:solidFill>
                <a:latin typeface="Times New Roman"/>
                <a:ea typeface="Calibri"/>
                <a:cs typeface="Times New Roman"/>
              </a:rPr>
              <a:t>By balancing technical capability with usability and maintaining human oversight, AI-assisted documentation can transform nursing workflows and enhance patient outcomes.</a:t>
            </a:r>
            <a:endParaRPr lang="en-US" sz="24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8679" y="3170784"/>
            <a:ext cx="5256460" cy="5256460"/>
          </a:xfrm>
          <a:prstGeom prst="rect">
            <a:avLst/>
          </a:prstGeom>
        </p:spPr>
      </p:pic>
      <p:sp>
        <p:nvSpPr>
          <p:cNvPr id="901" name="FooterBar"/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 | 12</a:t>
            </a:r>
          </a:p>
        </p:txBody>
      </p:sp>
      <p:sp>
        <p:nvSpPr>
          <p:cNvPr id="902" name="SlideAccentBar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FC418-58A7-C634-BB9A-296594CF6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40F5F6-BC25-B261-C706-71A7F05C6F19}"/>
              </a:ext>
            </a:extLst>
          </p:cNvPr>
          <p:cNvSpPr/>
          <p:nvPr/>
        </p:nvSpPr>
        <p:spPr>
          <a:xfrm>
            <a:off x="2263381" y="3850089"/>
            <a:ext cx="5905089" cy="102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938"/>
              </a:lnSpc>
            </a:pPr>
            <a:r>
              <a:rPr lang="en-US" sz="9600">
                <a:solidFill>
                  <a:srgbClr val="1B2A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US" sz="960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901" name="FooterBar">
            <a:extLst>
              <a:ext uri="{FF2B5EF4-FFF2-40B4-BE49-F238E27FC236}">
                <a16:creationId xmlns:a16="http://schemas.microsoft.com/office/drawing/2014/main" id="{E866B7D3-346B-0AB6-28D3-D0C0194699B5}"/>
              </a:ext>
            </a:extLst>
          </p:cNvPr>
          <p:cNvSpPr/>
          <p:nvPr/>
        </p:nvSpPr>
        <p:spPr>
          <a:xfrm>
            <a:off x="0" y="9715500"/>
            <a:ext cx="18288000" cy="5715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wrap="square" lIns="114300" tIns="57150" rIns="114300" bIns="57150" rtlCol="0" anchor="ctr"/>
          <a:lstStyle/>
          <a:p>
            <a:pPr algn="r">
              <a:buNone/>
            </a:pPr>
            <a:r>
              <a:rPr lang="en-US" sz="1250">
                <a:solidFill>
                  <a:srgbClr val="FFFFFF"/>
                </a:solidFill>
                <a:latin typeface="Calibri"/>
              </a:rPr>
              <a:t>Team 4  |  AI Implementation in Healthcare</a:t>
            </a:r>
          </a:p>
        </p:txBody>
      </p:sp>
      <p:sp>
        <p:nvSpPr>
          <p:cNvPr id="902" name="SlideAccentBar">
            <a:extLst>
              <a:ext uri="{FF2B5EF4-FFF2-40B4-BE49-F238E27FC236}">
                <a16:creationId xmlns:a16="http://schemas.microsoft.com/office/drawing/2014/main" id="{8EC41EF5-D531-4DCD-43BB-926E211C3806}"/>
              </a:ext>
            </a:extLst>
          </p:cNvPr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/>
          <a:lstStyle/>
          <a:p>
            <a:endParaRPr lang="en-NG" sz="22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3B9D15-2E9E-1AC2-20B7-C89B8E4D356F}"/>
              </a:ext>
            </a:extLst>
          </p:cNvPr>
          <p:cNvSpPr txBox="1"/>
          <p:nvPr/>
        </p:nvSpPr>
        <p:spPr>
          <a:xfrm>
            <a:off x="3162134" y="4873671"/>
            <a:ext cx="4107581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Any Questions?</a:t>
            </a:r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816CC26-FC97-4D5A-0337-D5D709638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9531" y="936404"/>
            <a:ext cx="7874535" cy="787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292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707</Words>
  <Application>Microsoft Macintosh PowerPoint</Application>
  <PresentationFormat>Custom</PresentationFormat>
  <Paragraphs>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Times New Roman</vt:lpstr>
      <vt:lpstr>Calibri</vt:lpstr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Modern Healthcare Pitch Deck Presentation</dc:title>
  <cp:lastModifiedBy>Grace Fadeyi</cp:lastModifiedBy>
  <cp:revision>2</cp:revision>
  <dcterms:created xsi:type="dcterms:W3CDTF">2006-08-16T00:00:00Z</dcterms:created>
  <dcterms:modified xsi:type="dcterms:W3CDTF">2026-05-21T17:23:27Z</dcterms:modified>
  <dc:identifier>DAHA8LrKTDs</dc:identifier>
</cp:coreProperties>
</file>